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83722" autoAdjust="0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v>Customer split</c:v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B702-0F43-8050-405FEB43AAC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B702-0F43-8050-405FEB43AAC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Lit>
              <c:ptCount val="2"/>
              <c:pt idx="0">
                <c:v>Stayed</c:v>
              </c:pt>
              <c:pt idx="1">
                <c:v>Churned</c:v>
              </c:pt>
            </c:strLit>
          </c:cat>
          <c:val>
            <c:numLit>
              <c:formatCode>General</c:formatCode>
              <c:ptCount val="2"/>
              <c:pt idx="0">
                <c:v>7963</c:v>
              </c:pt>
              <c:pt idx="1">
                <c:v>2037</c:v>
              </c:pt>
            </c:numLit>
          </c:val>
          <c:extLst>
            <c:ext xmlns:c16="http://schemas.microsoft.com/office/drawing/2014/chart" uri="{C3380CC4-5D6E-409C-BE32-E72D297353CC}">
              <c16:uniqueId val="{00000000-B976-49AC-81CD-D159D900CDF7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1"/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Customers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Stayed</c:v>
              </c:pt>
              <c:pt idx="1">
                <c:v>Churned</c:v>
              </c:pt>
            </c:strLit>
          </c:cat>
          <c:val>
            <c:numLit>
              <c:formatCode>General</c:formatCode>
              <c:ptCount val="2"/>
              <c:pt idx="0">
                <c:v>7963</c:v>
              </c:pt>
              <c:pt idx="1">
                <c:v>2037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5FC-4CE1-A36D-51395E49F22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4B5563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4A413-8D5A-523C-A1F1-F90C94260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25AF6-1775-A432-620A-D519852B2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E8C3E-5CC6-F4D4-93FF-2B61EFB01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2EFE1-FD98-D3E6-A59B-C19A0DEE1C3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7988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11C1C7B-2EC2-44D1-A0AD-461462E9E7BD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590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AI Solution </a:t>
            </a:r>
            <a:r>
              <a: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Development Bootcamp</a:t>
            </a:r>
            <a:r>
              <a:rPr lang="en-US"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 | Team 4</a:t>
            </a:r>
            <a:endParaRPr sz="1350" b="1" dirty="0">
              <a:solidFill>
                <a:srgbClr val="4B5563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891BD6-C32B-430A-9F45-416D3856BC92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80962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5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Customer</a:t>
            </a:r>
            <a:endParaRPr lang="en-US" sz="6000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5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60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Retention</a:t>
            </a:r>
          </a:p>
          <a:p>
            <a:pPr algn="l">
              <a:defRPr sz="5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Predictor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B6E6EA-F445-4CD4-B0CC-6756168C59D2}"/>
              </a:ext>
            </a:extLst>
          </p:cNvPr>
          <p:cNvSpPr>
            <a:spLocks noGrp="1"/>
          </p:cNvSpPr>
          <p:nvPr/>
        </p:nvSpPr>
        <p:spPr>
          <a:xfrm>
            <a:off x="400050" y="4953000"/>
            <a:ext cx="723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dirty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Bank churn prediction using machine learning and an LLM-powered retention advice 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8CEAEC-1838-49F0-8902-245ADF3419AC}"/>
              </a:ext>
            </a:extLst>
          </p:cNvPr>
          <p:cNvSpPr>
            <a:spLocks noGrp="1"/>
          </p:cNvSpPr>
          <p:nvPr/>
        </p:nvSpPr>
        <p:spPr>
          <a:xfrm>
            <a:off x="8858250" y="1143000"/>
            <a:ext cx="2381250" cy="2381250"/>
          </a:xfrm>
          <a:prstGeom prst="rect">
            <a:avLst/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E38AA5-551C-4373-8162-6FE0F521DF8E}"/>
              </a:ext>
            </a:extLst>
          </p:cNvPr>
          <p:cNvSpPr>
            <a:spLocks noGrp="1"/>
          </p:cNvSpPr>
          <p:nvPr/>
        </p:nvSpPr>
        <p:spPr>
          <a:xfrm>
            <a:off x="9191625" y="1619250"/>
            <a:ext cx="171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56534D-EDBA-4439-918D-2E6449186B7B}"/>
              </a:ext>
            </a:extLst>
          </p:cNvPr>
          <p:cNvSpPr>
            <a:spLocks noGrp="1"/>
          </p:cNvSpPr>
          <p:nvPr/>
        </p:nvSpPr>
        <p:spPr>
          <a:xfrm>
            <a:off x="9191625" y="23812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bank customers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AE2DEF-AEEA-4047-8CF8-0C17C8663097}"/>
              </a:ext>
            </a:extLst>
          </p:cNvPr>
          <p:cNvSpPr>
            <a:spLocks noGrp="1"/>
          </p:cNvSpPr>
          <p:nvPr/>
        </p:nvSpPr>
        <p:spPr>
          <a:xfrm>
            <a:off x="9191625" y="29908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ML + LLM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CF41A8-0794-4BCC-92DE-85AB4661754B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66124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DAABB52-8CD8-427E-9681-A25ED80A088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076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solution predicts who may leave before the bank loses them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731F69-E5BD-4F6B-8417-383A33682835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391900" cy="1333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148E26-5330-47F5-A2E6-06097BDEA6F0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Business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D2A289-E756-422F-ABC3-174D51870989}"/>
              </a:ext>
            </a:extLst>
          </p:cNvPr>
          <p:cNvSpPr>
            <a:spLocks noGrp="1"/>
          </p:cNvSpPr>
          <p:nvPr/>
        </p:nvSpPr>
        <p:spPr>
          <a:xfrm>
            <a:off x="400050" y="2362200"/>
            <a:ext cx="4953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Customer churn is expensive because the bank only sees the loss after the customer has already left. A useful AI solution must flag risk early and turn that signal into a concrete retention action.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B1D95-B473-4578-816E-D49B254F5061}"/>
              </a:ext>
            </a:extLst>
          </p:cNvPr>
          <p:cNvSpPr>
            <a:spLocks noGrp="1"/>
          </p:cNvSpPr>
          <p:nvPr/>
        </p:nvSpPr>
        <p:spPr>
          <a:xfrm>
            <a:off x="6286500" y="1809750"/>
            <a:ext cx="4953000" cy="8382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5155FE-1381-4429-B32F-EF8ABA2A7055}"/>
              </a:ext>
            </a:extLst>
          </p:cNvPr>
          <p:cNvSpPr>
            <a:spLocks noGrp="1"/>
          </p:cNvSpPr>
          <p:nvPr/>
        </p:nvSpPr>
        <p:spPr>
          <a:xfrm>
            <a:off x="6286500" y="3143250"/>
            <a:ext cx="4953000" cy="8382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6487AE-C400-4D19-AF41-C575317B0567}"/>
              </a:ext>
            </a:extLst>
          </p:cNvPr>
          <p:cNvSpPr>
            <a:spLocks noGrp="1"/>
          </p:cNvSpPr>
          <p:nvPr/>
        </p:nvSpPr>
        <p:spPr>
          <a:xfrm>
            <a:off x="6286500" y="4476750"/>
            <a:ext cx="4953000" cy="838200"/>
          </a:xfrm>
          <a:prstGeom prst="rect">
            <a:avLst/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C0897C-0257-4F4A-BAEB-05A6F57F1B45}"/>
              </a:ext>
            </a:extLst>
          </p:cNvPr>
          <p:cNvSpPr>
            <a:spLocks noGrp="1"/>
          </p:cNvSpPr>
          <p:nvPr/>
        </p:nvSpPr>
        <p:spPr>
          <a:xfrm>
            <a:off x="6572250" y="203835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Predict churn risk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C988E6-1ABF-46A9-8090-6C5FB13E7367}"/>
              </a:ext>
            </a:extLst>
          </p:cNvPr>
          <p:cNvSpPr>
            <a:spLocks noGrp="1"/>
          </p:cNvSpPr>
          <p:nvPr/>
        </p:nvSpPr>
        <p:spPr>
          <a:xfrm>
            <a:off x="6572250" y="337185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Compare model trade-offs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C3AF1E-CB3E-45A5-99B9-507D82CDB51C}"/>
              </a:ext>
            </a:extLst>
          </p:cNvPr>
          <p:cNvSpPr>
            <a:spLocks noGrp="1"/>
          </p:cNvSpPr>
          <p:nvPr/>
        </p:nvSpPr>
        <p:spPr>
          <a:xfrm>
            <a:off x="6572250" y="470535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Generate retention advice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57BB01-B52F-47E2-ADCC-323F81C5DB0C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6081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0CD88F6-8AD5-49B8-89D2-671C28860F0A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076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dataset contains 10,000 bank customers and a clear churn target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A291EE-D8CF-4CDB-A4A2-E1A15F03591F}"/>
              </a:ext>
            </a:extLst>
          </p:cNvPr>
          <p:cNvSpPr>
            <a:spLocks noGrp="1"/>
          </p:cNvSpPr>
          <p:nvPr/>
        </p:nvSpPr>
        <p:spPr>
          <a:xfrm>
            <a:off x="400050" y="98298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dirty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Each row describes a customer profile; Exited is the target variable.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2BD433-2EAC-4D85-8E03-56F662F634D6}"/>
              </a:ext>
            </a:extLst>
          </p:cNvPr>
          <p:cNvSpPr>
            <a:spLocks noGrp="1"/>
          </p:cNvSpPr>
          <p:nvPr/>
        </p:nvSpPr>
        <p:spPr>
          <a:xfrm>
            <a:off x="400050" y="1762125"/>
            <a:ext cx="3048000" cy="123825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DA39D0-1782-45C1-B6B9-4ABF97CF0F96}"/>
              </a:ext>
            </a:extLst>
          </p:cNvPr>
          <p:cNvSpPr>
            <a:spLocks noGrp="1"/>
          </p:cNvSpPr>
          <p:nvPr/>
        </p:nvSpPr>
        <p:spPr>
          <a:xfrm>
            <a:off x="628650" y="201930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10,000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484F9A-F8E7-4EF0-A47B-C60D92D39986}"/>
              </a:ext>
            </a:extLst>
          </p:cNvPr>
          <p:cNvSpPr>
            <a:spLocks noGrp="1"/>
          </p:cNvSpPr>
          <p:nvPr/>
        </p:nvSpPr>
        <p:spPr>
          <a:xfrm>
            <a:off x="628650" y="26289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customer records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688B5F-8DC2-43B4-8CE9-7810D1DD907D}"/>
              </a:ext>
            </a:extLst>
          </p:cNvPr>
          <p:cNvSpPr>
            <a:spLocks noGrp="1"/>
          </p:cNvSpPr>
          <p:nvPr/>
        </p:nvSpPr>
        <p:spPr>
          <a:xfrm>
            <a:off x="4114800" y="1762125"/>
            <a:ext cx="3048000" cy="123825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7C413E-021C-4B3C-8C60-A7B777DA36B7}"/>
              </a:ext>
            </a:extLst>
          </p:cNvPr>
          <p:cNvSpPr>
            <a:spLocks noGrp="1"/>
          </p:cNvSpPr>
          <p:nvPr/>
        </p:nvSpPr>
        <p:spPr>
          <a:xfrm>
            <a:off x="4343400" y="201930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FA8951-CA59-474D-8CCB-5AB3AC989472}"/>
              </a:ext>
            </a:extLst>
          </p:cNvPr>
          <p:cNvSpPr>
            <a:spLocks noGrp="1"/>
          </p:cNvSpPr>
          <p:nvPr/>
        </p:nvSpPr>
        <p:spPr>
          <a:xfrm>
            <a:off x="4343400" y="26289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usable model features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E23524-70F2-4577-B878-678FB8FD24F8}"/>
              </a:ext>
            </a:extLst>
          </p:cNvPr>
          <p:cNvSpPr>
            <a:spLocks noGrp="1"/>
          </p:cNvSpPr>
          <p:nvPr/>
        </p:nvSpPr>
        <p:spPr>
          <a:xfrm>
            <a:off x="7829550" y="1762125"/>
            <a:ext cx="3048000" cy="1238250"/>
          </a:xfrm>
          <a:prstGeom prst="rect">
            <a:avLst/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F23E45-A1F0-4215-BD7D-80F81411A535}"/>
              </a:ext>
            </a:extLst>
          </p:cNvPr>
          <p:cNvSpPr>
            <a:spLocks noGrp="1"/>
          </p:cNvSpPr>
          <p:nvPr/>
        </p:nvSpPr>
        <p:spPr>
          <a:xfrm>
            <a:off x="8058150" y="201930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20.4%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B32906-170C-4863-A8CF-E84EA99B4049}"/>
              </a:ext>
            </a:extLst>
          </p:cNvPr>
          <p:cNvSpPr>
            <a:spLocks noGrp="1"/>
          </p:cNvSpPr>
          <p:nvPr/>
        </p:nvSpPr>
        <p:spPr>
          <a:xfrm>
            <a:off x="8058150" y="26289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customers churned</a:t>
            </a:r>
          </a:p>
        </p:txBody>
      </p:sp>
      <p:graphicFrame>
        <p:nvGraphicFramePr>
          <p:cNvPr id="26" name="Chart"/>
          <p:cNvGraphicFramePr/>
          <p:nvPr>
            <p:extLst>
              <p:ext uri="{D42A27DB-BD31-4B8C-83A1-F6EECF244321}">
                <p14:modId xmlns:p14="http://schemas.microsoft.com/office/powerpoint/2010/main" val="2862885040"/>
              </p:ext>
            </p:extLst>
          </p:nvPr>
        </p:nvGraphicFramePr>
        <p:xfrm>
          <a:off x="571500" y="3476625"/>
          <a:ext cx="4095750" cy="247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Table 26"/>
          <p:cNvGraphicFramePr/>
          <p:nvPr/>
        </p:nvGraphicFramePr>
        <p:xfrm>
          <a:off x="5476875" y="3429000"/>
          <a:ext cx="5905500" cy="2286000"/>
        </p:xfrm>
        <a:graphic>
          <a:graphicData uri="http://schemas.openxmlformats.org/drawingml/2006/table">
            <a:tbl>
              <a:tblPr firstRow="1" band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FFFFFF"/>
                          </a:solidFill>
                        </a:rPr>
                        <a:t>Feature group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Examples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Demographic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Geography, Gender, 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Tenure, IsActiveMember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Financial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CreditScore, Balance, 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NumOfProducts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HasCrCard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FC918440-B563-4146-AB1C-987E96FD0C2F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03390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8F57B31-126D-4031-94EB-5E98CBF1BD5C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076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Preprocessing turned raw customer records into model-ready features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6434C7-E3C5-4E0F-B613-ABEBB1FFC143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cleaning kept all customer rows while removing identifiers and encoding categorical inputs.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5CE49B-B3A8-4407-90BC-C662FB0AB9D0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5143500" cy="114300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863FCE-F1B8-423D-8C04-ACC979667311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E0093F-923A-45F0-8FE6-C277A68675DE}"/>
              </a:ext>
            </a:extLst>
          </p:cNvPr>
          <p:cNvSpPr>
            <a:spLocks noGrp="1"/>
          </p:cNvSpPr>
          <p:nvPr/>
        </p:nvSpPr>
        <p:spPr>
          <a:xfrm>
            <a:off x="1400175" y="22288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Drop identifiers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2DDCA2-642D-47D1-BE9E-59FB19009E12}"/>
              </a:ext>
            </a:extLst>
          </p:cNvPr>
          <p:cNvSpPr>
            <a:spLocks noGrp="1"/>
          </p:cNvSpPr>
          <p:nvPr/>
        </p:nvSpPr>
        <p:spPr>
          <a:xfrm>
            <a:off x="1400175" y="260985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Surname, RowNumber, CustomerId, and the exported index are excluded from modelling.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3F77F7-57BA-4DDD-AB0D-2473E5F1102F}"/>
              </a:ext>
            </a:extLst>
          </p:cNvPr>
          <p:cNvSpPr>
            <a:spLocks noGrp="1"/>
          </p:cNvSpPr>
          <p:nvPr/>
        </p:nvSpPr>
        <p:spPr>
          <a:xfrm>
            <a:off x="6210300" y="2000250"/>
            <a:ext cx="5143500" cy="114300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A95320-437F-4FC9-8978-0F0E2EF943CF}"/>
              </a:ext>
            </a:extLst>
          </p:cNvPr>
          <p:cNvSpPr>
            <a:spLocks noGrp="1"/>
          </p:cNvSpPr>
          <p:nvPr/>
        </p:nvSpPr>
        <p:spPr>
          <a:xfrm>
            <a:off x="6438900" y="22669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4E39FC-4EFB-442B-991C-864BD2FB79BE}"/>
              </a:ext>
            </a:extLst>
          </p:cNvPr>
          <p:cNvSpPr>
            <a:spLocks noGrp="1"/>
          </p:cNvSpPr>
          <p:nvPr/>
        </p:nvSpPr>
        <p:spPr>
          <a:xfrm>
            <a:off x="7210425" y="22288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Encode categories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8175EF-9837-4B72-8A74-6A3420A0255C}"/>
              </a:ext>
            </a:extLst>
          </p:cNvPr>
          <p:cNvSpPr>
            <a:spLocks noGrp="1"/>
          </p:cNvSpPr>
          <p:nvPr/>
        </p:nvSpPr>
        <p:spPr>
          <a:xfrm>
            <a:off x="7210425" y="260985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Gender is binary encoded; Geography is label encoded.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4D041B-B7B3-4F91-AA78-F30306CF1A43}"/>
              </a:ext>
            </a:extLst>
          </p:cNvPr>
          <p:cNvSpPr>
            <a:spLocks noGrp="1"/>
          </p:cNvSpPr>
          <p:nvPr/>
        </p:nvSpPr>
        <p:spPr>
          <a:xfrm>
            <a:off x="400050" y="3619500"/>
            <a:ext cx="5143500" cy="114300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B09402-BA97-48EF-B90D-FEB999D127E8}"/>
              </a:ext>
            </a:extLst>
          </p:cNvPr>
          <p:cNvSpPr>
            <a:spLocks noGrp="1"/>
          </p:cNvSpPr>
          <p:nvPr/>
        </p:nvSpPr>
        <p:spPr>
          <a:xfrm>
            <a:off x="628650" y="388620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D00331-07D6-4B3C-AE4A-FCB85915E200}"/>
              </a:ext>
            </a:extLst>
          </p:cNvPr>
          <p:cNvSpPr>
            <a:spLocks noGrp="1"/>
          </p:cNvSpPr>
          <p:nvPr/>
        </p:nvSpPr>
        <p:spPr>
          <a:xfrm>
            <a:off x="1400175" y="384810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complete rows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B88ECA-157E-4028-8AF9-E1B48565854B}"/>
              </a:ext>
            </a:extLst>
          </p:cNvPr>
          <p:cNvSpPr>
            <a:spLocks noGrp="1"/>
          </p:cNvSpPr>
          <p:nvPr/>
        </p:nvSpPr>
        <p:spPr>
          <a:xfrm>
            <a:off x="1400175" y="422910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No missing values were found across the raw dataset.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F90C41-1FAF-4FC5-9879-0A7FC9F0A612}"/>
              </a:ext>
            </a:extLst>
          </p:cNvPr>
          <p:cNvSpPr>
            <a:spLocks noGrp="1"/>
          </p:cNvSpPr>
          <p:nvPr/>
        </p:nvSpPr>
        <p:spPr>
          <a:xfrm>
            <a:off x="6210300" y="3619500"/>
            <a:ext cx="5143500" cy="1143000"/>
          </a:xfrm>
          <a:prstGeom prst="rect">
            <a:avLst/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9B86DF-C8F5-4404-BBC8-7B43246AF886}"/>
              </a:ext>
            </a:extLst>
          </p:cNvPr>
          <p:cNvSpPr>
            <a:spLocks noGrp="1"/>
          </p:cNvSpPr>
          <p:nvPr/>
        </p:nvSpPr>
        <p:spPr>
          <a:xfrm>
            <a:off x="6438900" y="388620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AF4847-8E18-46BD-85D6-1DFA00BD263A}"/>
              </a:ext>
            </a:extLst>
          </p:cNvPr>
          <p:cNvSpPr>
            <a:spLocks noGrp="1"/>
          </p:cNvSpPr>
          <p:nvPr/>
        </p:nvSpPr>
        <p:spPr>
          <a:xfrm>
            <a:off x="7210425" y="384810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clean set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D8BF75-7D2B-4FD7-9A31-BAA7EA0218CC}"/>
              </a:ext>
            </a:extLst>
          </p:cNvPr>
          <p:cNvSpPr>
            <a:spLocks noGrp="1"/>
          </p:cNvSpPr>
          <p:nvPr/>
        </p:nvSpPr>
        <p:spPr>
          <a:xfrm>
            <a:off x="7210425" y="422910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modelling view is 10 features plus the Exited target.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FC4110-F7E1-42F1-846F-9B9406ED930F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9744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67DA8EB-3AD0-4615-AA12-8F06EACA4F47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066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class imbalance made recall and F1 more meaningful than accuracy alone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313F76-E53B-4363-B7D7-4BADF01CB87F}"/>
              </a:ext>
            </a:extLst>
          </p:cNvPr>
          <p:cNvSpPr>
            <a:spLocks noGrp="1"/>
          </p:cNvSpPr>
          <p:nvPr/>
        </p:nvSpPr>
        <p:spPr>
          <a:xfrm>
            <a:off x="400050" y="11430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Because only 20.4% of customers churned, a model can look accurate while still missing many churners.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666750" y="2000250"/>
          <a:ext cx="495300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77970E9-B435-435D-8802-2D873408BB77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286250" cy="1095375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FA4A1D-0431-4A50-B051-8E2715FDE370}"/>
              </a:ext>
            </a:extLst>
          </p:cNvPr>
          <p:cNvSpPr>
            <a:spLocks noGrp="1"/>
          </p:cNvSpPr>
          <p:nvPr/>
        </p:nvSpPr>
        <p:spPr>
          <a:xfrm>
            <a:off x="6858000" y="23431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choice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1C1CE2-4F21-482F-BF2E-B279CC3FC6DC}"/>
              </a:ext>
            </a:extLst>
          </p:cNvPr>
          <p:cNvSpPr>
            <a:spLocks noGrp="1"/>
          </p:cNvSpPr>
          <p:nvPr/>
        </p:nvSpPr>
        <p:spPr>
          <a:xfrm>
            <a:off x="6858000" y="2724150"/>
            <a:ext cx="352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Do not downsample and lose thousands of majority-class rows.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5B7A77-9C1F-48CF-8E0F-ABE1653A6B5C}"/>
              </a:ext>
            </a:extLst>
          </p:cNvPr>
          <p:cNvSpPr>
            <a:spLocks noGrp="1"/>
          </p:cNvSpPr>
          <p:nvPr/>
        </p:nvSpPr>
        <p:spPr>
          <a:xfrm>
            <a:off x="6572250" y="3619500"/>
            <a:ext cx="4286250" cy="1095375"/>
          </a:xfrm>
          <a:prstGeom prst="rect">
            <a:avLst/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0F7036-3317-4E9B-AEF9-DC0CDDAE2DAD}"/>
              </a:ext>
            </a:extLst>
          </p:cNvPr>
          <p:cNvSpPr>
            <a:spLocks noGrp="1"/>
          </p:cNvSpPr>
          <p:nvPr/>
        </p:nvSpPr>
        <p:spPr>
          <a:xfrm>
            <a:off x="6858000" y="38671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Training response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354335-F910-4F7E-BC6A-262A77B68032}"/>
              </a:ext>
            </a:extLst>
          </p:cNvPr>
          <p:cNvSpPr>
            <a:spLocks noGrp="1"/>
          </p:cNvSpPr>
          <p:nvPr/>
        </p:nvSpPr>
        <p:spPr>
          <a:xfrm>
            <a:off x="6858000" y="4248150"/>
            <a:ext cx="352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Use class_weight='balanced' and tune thresholds for the retention objective.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6F9F44-9DCC-49DD-82B5-3D7F15BEA442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9474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FA0D70E-C71D-48F9-AB20-41EBBBAE479F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066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classifiers were tuned through the same evaluation pipeline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C9DD65-7806-441B-8BB5-1C6A1D009FA2}"/>
              </a:ext>
            </a:extLst>
          </p:cNvPr>
          <p:cNvSpPr>
            <a:spLocks noGrp="1"/>
          </p:cNvSpPr>
          <p:nvPr/>
        </p:nvSpPr>
        <p:spPr>
          <a:xfrm>
            <a:off x="400050" y="11430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split preserved class proportions, and GridSearchCV compared candidate hyperparameters.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400050" y="1952625"/>
          <a:ext cx="7239000" cy="3150870"/>
        </p:xfrm>
        <a:graphic>
          <a:graphicData uri="http://schemas.openxmlformats.org/drawingml/2006/table">
            <a:tbl>
              <a:tblPr firstRow="1" bandRow="1"/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Core setup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Reason tested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Scaler + polynomial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Linear baseline with feature 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Scaler + probability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Margin-based classifier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Depth and class-weight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Interpretable non-linear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Trees, depth, class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 ensemble candidate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A7C6234-29AF-4C93-9506-2340B343FDC2}"/>
              </a:ext>
            </a:extLst>
          </p:cNvPr>
          <p:cNvSpPr>
            <a:spLocks noGrp="1"/>
          </p:cNvSpPr>
          <p:nvPr/>
        </p:nvSpPr>
        <p:spPr>
          <a:xfrm>
            <a:off x="8239125" y="1952625"/>
            <a:ext cx="3143250" cy="1047750"/>
          </a:xfrm>
          <a:prstGeom prst="rect">
            <a:avLst/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5F19D7-6023-4DCF-A7D9-72C8F1929B5A}"/>
              </a:ext>
            </a:extLst>
          </p:cNvPr>
          <p:cNvSpPr>
            <a:spLocks noGrp="1"/>
          </p:cNvSpPr>
          <p:nvPr/>
        </p:nvSpPr>
        <p:spPr>
          <a:xfrm>
            <a:off x="8477250" y="2209800"/>
            <a:ext cx="266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70 / 15 / 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69626A-3CE8-40DE-A773-7283AD078664}"/>
              </a:ext>
            </a:extLst>
          </p:cNvPr>
          <p:cNvSpPr>
            <a:spLocks noGrp="1"/>
          </p:cNvSpPr>
          <p:nvPr/>
        </p:nvSpPr>
        <p:spPr>
          <a:xfrm>
            <a:off x="8477250" y="26860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train / validation / 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2A4C8-5B60-40EC-8C83-AD787FCE1B86}"/>
              </a:ext>
            </a:extLst>
          </p:cNvPr>
          <p:cNvSpPr>
            <a:spLocks noGrp="1"/>
          </p:cNvSpPr>
          <p:nvPr/>
        </p:nvSpPr>
        <p:spPr>
          <a:xfrm>
            <a:off x="8239125" y="3429000"/>
            <a:ext cx="3143250" cy="104775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0EBA0A-6CC2-415B-88F1-A032D33B9F5F}"/>
              </a:ext>
            </a:extLst>
          </p:cNvPr>
          <p:cNvSpPr>
            <a:spLocks noGrp="1"/>
          </p:cNvSpPr>
          <p:nvPr/>
        </p:nvSpPr>
        <p:spPr>
          <a:xfrm>
            <a:off x="8477250" y="3695700"/>
            <a:ext cx="266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5-fold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E941C6-31ED-4CC7-8472-2B2E61C13942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GridSearchCV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295F56-0818-4090-AE8D-249DCC86DB34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44799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9D44353-3D61-4E7F-B906-5BA1419397B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066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preprocessing fix changed training from unfinished to 19.6 seconds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990749-F63C-4E68-BDA0-D98EC12BC935}"/>
              </a:ext>
            </a:extLst>
          </p:cNvPr>
          <p:cNvSpPr>
            <a:spLocks noGrp="1"/>
          </p:cNvSpPr>
          <p:nvPr/>
        </p:nvSpPr>
        <p:spPr>
          <a:xfrm>
            <a:off x="400050" y="1333500"/>
            <a:ext cx="1009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dirty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first training attempt ran for more than 130 minutes without finishing. Investigation pointed to scaling as the missing step for distance- and optimization-sensitive models.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70A544-84A2-423F-B7A5-4B4A5501EA86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2952750" cy="200025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762C06-3E8D-4908-A636-817A15088D2A}"/>
              </a:ext>
            </a:extLst>
          </p:cNvPr>
          <p:cNvSpPr>
            <a:spLocks noGrp="1"/>
          </p:cNvSpPr>
          <p:nvPr/>
        </p:nvSpPr>
        <p:spPr>
          <a:xfrm>
            <a:off x="952500" y="2838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Before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D49EEE-4E4B-4744-8B89-F815D955CB2C}"/>
              </a:ext>
            </a:extLst>
          </p:cNvPr>
          <p:cNvSpPr>
            <a:spLocks noGrp="1"/>
          </p:cNvSpPr>
          <p:nvPr/>
        </p:nvSpPr>
        <p:spPr>
          <a:xfrm>
            <a:off x="952500" y="3333750"/>
            <a:ext cx="247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&gt;130 min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4C2A08-E725-4D74-A042-2C6AE60863CA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training did not finish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016DF4-8812-42DC-8005-0578969199C6}"/>
              </a:ext>
            </a:extLst>
          </p:cNvPr>
          <p:cNvSpPr>
            <a:spLocks noGrp="1"/>
          </p:cNvSpPr>
          <p:nvPr/>
        </p:nvSpPr>
        <p:spPr>
          <a:xfrm>
            <a:off x="4438650" y="2571750"/>
            <a:ext cx="2952750" cy="200025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4D5485-0C19-4968-972B-5A38167B614A}"/>
              </a:ext>
            </a:extLst>
          </p:cNvPr>
          <p:cNvSpPr>
            <a:spLocks noGrp="1"/>
          </p:cNvSpPr>
          <p:nvPr/>
        </p:nvSpPr>
        <p:spPr>
          <a:xfrm>
            <a:off x="4667250" y="2838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Root cause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B95B0-B505-4E01-AF2B-BE034F901530}"/>
              </a:ext>
            </a:extLst>
          </p:cNvPr>
          <p:cNvSpPr>
            <a:spLocks noGrp="1"/>
          </p:cNvSpPr>
          <p:nvPr/>
        </p:nvSpPr>
        <p:spPr>
          <a:xfrm>
            <a:off x="4667250" y="3333750"/>
            <a:ext cx="247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scaling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D637F-DD1B-4F53-BCE0-F767A8497280}"/>
              </a:ext>
            </a:extLst>
          </p:cNvPr>
          <p:cNvSpPr>
            <a:spLocks noGrp="1"/>
          </p:cNvSpPr>
          <p:nvPr/>
        </p:nvSpPr>
        <p:spPr>
          <a:xfrm>
            <a:off x="4667250" y="40957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optimization/search became too slow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DD944E-AAF2-407F-BC89-B749B3E03E2B}"/>
              </a:ext>
            </a:extLst>
          </p:cNvPr>
          <p:cNvSpPr>
            <a:spLocks noGrp="1"/>
          </p:cNvSpPr>
          <p:nvPr/>
        </p:nvSpPr>
        <p:spPr>
          <a:xfrm>
            <a:off x="8153400" y="2571750"/>
            <a:ext cx="2952750" cy="2000250"/>
          </a:xfrm>
          <a:prstGeom prst="rect">
            <a:avLst/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573A0E-BF75-46D1-8439-C15D0AB126B0}"/>
              </a:ext>
            </a:extLst>
          </p:cNvPr>
          <p:cNvSpPr>
            <a:spLocks noGrp="1"/>
          </p:cNvSpPr>
          <p:nvPr/>
        </p:nvSpPr>
        <p:spPr>
          <a:xfrm>
            <a:off x="8382000" y="2838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After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C526D-34B4-4C46-A273-0CEAB96AE1C2}"/>
              </a:ext>
            </a:extLst>
          </p:cNvPr>
          <p:cNvSpPr>
            <a:spLocks noGrp="1"/>
          </p:cNvSpPr>
          <p:nvPr/>
        </p:nvSpPr>
        <p:spPr>
          <a:xfrm>
            <a:off x="8382000" y="3333750"/>
            <a:ext cx="247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3375" b="1" dirty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64</a:t>
            </a:r>
            <a:r>
              <a:rPr sz="3375" b="1" dirty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 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699FDE-C4BD-4D85-9D59-646AF2F7C172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all training completed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823234-9D34-418B-8797-4F7D893DAC13}"/>
              </a:ext>
            </a:extLst>
          </p:cNvPr>
          <p:cNvSpPr>
            <a:spLocks noGrp="1"/>
          </p:cNvSpPr>
          <p:nvPr/>
        </p:nvSpPr>
        <p:spPr>
          <a:xfrm>
            <a:off x="1809750" y="5429250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Lesson: model performance is not only about metrics; pipeline design can decide whether training is even practical.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5CACF7-8A54-472B-85D0-59EE9A0C0A35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06817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A5E587B-B9EA-43B0-B767-E2C33735E83C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066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Validation results show the accuracy versus recall trade-off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F0C5DA-5BAD-424D-B4D4-09743BECF73D}"/>
              </a:ext>
            </a:extLst>
          </p:cNvPr>
          <p:cNvSpPr>
            <a:spLocks noGrp="1"/>
          </p:cNvSpPr>
          <p:nvPr/>
        </p:nvSpPr>
        <p:spPr>
          <a:xfrm>
            <a:off x="8286750" y="1600200"/>
            <a:ext cx="3143250" cy="13335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C52B1C-6DF7-4039-8564-A599DA0A0B68}"/>
              </a:ext>
            </a:extLst>
          </p:cNvPr>
          <p:cNvSpPr>
            <a:spLocks noGrp="1"/>
          </p:cNvSpPr>
          <p:nvPr/>
        </p:nvSpPr>
        <p:spPr>
          <a:xfrm>
            <a:off x="8572500" y="18669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86.9%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4A6354-2210-438D-8178-C5F56229EAA9}"/>
              </a:ext>
            </a:extLst>
          </p:cNvPr>
          <p:cNvSpPr>
            <a:spLocks noGrp="1"/>
          </p:cNvSpPr>
          <p:nvPr/>
        </p:nvSpPr>
        <p:spPr>
          <a:xfrm>
            <a:off x="8572500" y="234315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highest validation accuracy: Random Forest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B53AC9-DD4D-4322-954E-B50532E72D64}"/>
              </a:ext>
            </a:extLst>
          </p:cNvPr>
          <p:cNvSpPr>
            <a:spLocks noGrp="1"/>
          </p:cNvSpPr>
          <p:nvPr/>
        </p:nvSpPr>
        <p:spPr>
          <a:xfrm>
            <a:off x="8286750" y="3124200"/>
            <a:ext cx="3143250" cy="1333500"/>
          </a:xfrm>
          <a:prstGeom prst="rect">
            <a:avLst/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E814E9-1E8F-4795-85FB-3D32F1A71FB8}"/>
              </a:ext>
            </a:extLst>
          </p:cNvPr>
          <p:cNvSpPr>
            <a:spLocks noGrp="1"/>
          </p:cNvSpPr>
          <p:nvPr/>
        </p:nvSpPr>
        <p:spPr>
          <a:xfrm>
            <a:off x="8572500" y="33528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4E76A5-C413-4A54-964F-ED575CBF7C98}"/>
              </a:ext>
            </a:extLst>
          </p:cNvPr>
          <p:cNvSpPr>
            <a:spLocks noGrp="1"/>
          </p:cNvSpPr>
          <p:nvPr/>
        </p:nvSpPr>
        <p:spPr>
          <a:xfrm>
            <a:off x="8572500" y="37909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default Tree and Forest missed more than half of churners on validation recall.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2F7CF1-60D3-4219-B657-2D71ED407267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77A9EB-D348-A9BB-8578-F255BBC8F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65" y="1257300"/>
            <a:ext cx="7890510" cy="477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03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953A5F-2800-78A5-7B2E-E2C90EE91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A5AC2D-FD7E-4F7B-9327-8EC1B509955A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066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Validation results show the accuracy versus recall trade-off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69B784-22EB-1AF0-A01A-25231D9FF9C9}"/>
              </a:ext>
            </a:extLst>
          </p:cNvPr>
          <p:cNvSpPr>
            <a:spLocks noGrp="1"/>
          </p:cNvSpPr>
          <p:nvPr/>
        </p:nvSpPr>
        <p:spPr>
          <a:xfrm>
            <a:off x="8286750" y="1600200"/>
            <a:ext cx="3143250" cy="13335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F4C9D4-A833-8B17-A6BB-DB0CC62C2F31}"/>
              </a:ext>
            </a:extLst>
          </p:cNvPr>
          <p:cNvSpPr>
            <a:spLocks noGrp="1"/>
          </p:cNvSpPr>
          <p:nvPr/>
        </p:nvSpPr>
        <p:spPr>
          <a:xfrm>
            <a:off x="8572500" y="18669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86.9%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F38013-ADBF-4E79-49D0-D9C063DBEAE0}"/>
              </a:ext>
            </a:extLst>
          </p:cNvPr>
          <p:cNvSpPr>
            <a:spLocks noGrp="1"/>
          </p:cNvSpPr>
          <p:nvPr/>
        </p:nvSpPr>
        <p:spPr>
          <a:xfrm>
            <a:off x="8572500" y="234315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highest validation accuracy: Random Forest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050FC6-1B83-5E39-8C05-3F933F5649EC}"/>
              </a:ext>
            </a:extLst>
          </p:cNvPr>
          <p:cNvSpPr>
            <a:spLocks noGrp="1"/>
          </p:cNvSpPr>
          <p:nvPr/>
        </p:nvSpPr>
        <p:spPr>
          <a:xfrm>
            <a:off x="8286750" y="3124200"/>
            <a:ext cx="3143250" cy="1333500"/>
          </a:xfrm>
          <a:prstGeom prst="rect">
            <a:avLst/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E02120-9FD5-8408-EF79-7E4078886AEF}"/>
              </a:ext>
            </a:extLst>
          </p:cNvPr>
          <p:cNvSpPr>
            <a:spLocks noGrp="1"/>
          </p:cNvSpPr>
          <p:nvPr/>
        </p:nvSpPr>
        <p:spPr>
          <a:xfrm>
            <a:off x="8572500" y="33528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16489E-6F38-5F0E-3D43-0BD88F1DD98F}"/>
              </a:ext>
            </a:extLst>
          </p:cNvPr>
          <p:cNvSpPr>
            <a:spLocks noGrp="1"/>
          </p:cNvSpPr>
          <p:nvPr/>
        </p:nvSpPr>
        <p:spPr>
          <a:xfrm>
            <a:off x="8572500" y="37909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default Tree and Forest missed more than half of churners on validation recall.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D98425-85BB-EC38-C3E3-BE22C8766448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F6394A-B008-984C-B769-23E01DE2C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331" y="1092958"/>
            <a:ext cx="5135880" cy="542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94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E5E42F8-1808-4B26-BB42-128259CA0B1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066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Threshold tuning changed which model looked most useful for retention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398746-D9C5-4D24-82FD-AFC8235814B7}"/>
              </a:ext>
            </a:extLst>
          </p:cNvPr>
          <p:cNvSpPr>
            <a:spLocks noGrp="1"/>
          </p:cNvSpPr>
          <p:nvPr/>
        </p:nvSpPr>
        <p:spPr>
          <a:xfrm>
            <a:off x="400050" y="11430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For retention, catching churners can matter more than preserving the highest overall accuracy.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62756C-C961-4AC8-BD4F-784282E5766A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048000" cy="1428750"/>
          </a:xfrm>
          <a:prstGeom prst="rect">
            <a:avLst/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7118AD-14F9-4732-8D37-58B860FE76E2}"/>
              </a:ext>
            </a:extLst>
          </p:cNvPr>
          <p:cNvSpPr>
            <a:spLocks noGrp="1"/>
          </p:cNvSpPr>
          <p:nvPr/>
        </p:nvSpPr>
        <p:spPr>
          <a:xfrm>
            <a:off x="8382000" y="22479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Best balance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278101-7D77-4E40-9556-7FEDA40C40FF}"/>
              </a:ext>
            </a:extLst>
          </p:cNvPr>
          <p:cNvSpPr>
            <a:spLocks noGrp="1"/>
          </p:cNvSpPr>
          <p:nvPr/>
        </p:nvSpPr>
        <p:spPr>
          <a:xfrm>
            <a:off x="8382000" y="2647950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dirty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Decision Tree at 0.3077 improved F1 to 63% while keeping 84% accuracy.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1F597D-E8E5-4525-876A-8588C7EFE7AB}"/>
              </a:ext>
            </a:extLst>
          </p:cNvPr>
          <p:cNvSpPr>
            <a:spLocks noGrp="1"/>
          </p:cNvSpPr>
          <p:nvPr/>
        </p:nvSpPr>
        <p:spPr>
          <a:xfrm>
            <a:off x="8096250" y="3619499"/>
            <a:ext cx="3048000" cy="1428749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381C06-85AB-4E18-B078-FABFA99871B1}"/>
              </a:ext>
            </a:extLst>
          </p:cNvPr>
          <p:cNvSpPr>
            <a:spLocks noGrp="1"/>
          </p:cNvSpPr>
          <p:nvPr/>
        </p:nvSpPr>
        <p:spPr>
          <a:xfrm>
            <a:off x="8382000" y="38671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Highest recall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1E9E69-97C4-4BFC-B8C1-81FEC2D16344}"/>
              </a:ext>
            </a:extLst>
          </p:cNvPr>
          <p:cNvSpPr>
            <a:spLocks noGrp="1"/>
          </p:cNvSpPr>
          <p:nvPr/>
        </p:nvSpPr>
        <p:spPr>
          <a:xfrm>
            <a:off x="8382000" y="4267200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Random Forest at 0.1985 caught 77% of churners, but accuracy dropped to 78%.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A76FC4-61D1-48FF-A360-271F6E3C143C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EB2655D-D3DD-36D3-C1F8-7552FD318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737943"/>
              </p:ext>
            </p:extLst>
          </p:nvPr>
        </p:nvGraphicFramePr>
        <p:xfrm>
          <a:off x="323851" y="2000250"/>
          <a:ext cx="7543800" cy="3497580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2797107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8356613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85814318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1452986485"/>
                    </a:ext>
                  </a:extLst>
                </a:gridCol>
                <a:gridCol w="1261110">
                  <a:extLst>
                    <a:ext uri="{9D8B030D-6E8A-4147-A177-3AD203B41FA5}">
                      <a16:colId xmlns:a16="http://schemas.microsoft.com/office/drawing/2014/main" val="2337611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b="1" dirty="0">
                          <a:effectLst/>
                        </a:rPr>
                        <a:t>Model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b="1" dirty="0">
                          <a:effectLst/>
                        </a:rPr>
                        <a:t>Threshold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b="1" dirty="0">
                          <a:effectLst/>
                        </a:rPr>
                        <a:t>Recall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b="1">
                          <a:effectLst/>
                        </a:rPr>
                        <a:t>F1-Score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b="1" dirty="0">
                          <a:effectLst/>
                        </a:rPr>
                        <a:t>Accuracy</a:t>
                      </a:r>
                    </a:p>
                  </a:txBody>
                  <a:tcPr marL="95250" marR="95250" marT="57150" marB="57150" anchor="ctr"/>
                </a:tc>
                <a:extLst>
                  <a:ext uri="{0D108BD9-81ED-4DB2-BD59-A6C34878D82A}">
                    <a16:rowId xmlns:a16="http://schemas.microsoft.com/office/drawing/2014/main" val="859574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Logistic Regression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dirty="0">
                          <a:effectLst/>
                        </a:rPr>
                        <a:t>0.5000 (default)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75%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59%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79%</a:t>
                      </a:r>
                    </a:p>
                  </a:txBody>
                  <a:tcPr marL="95250" marR="95250" marT="57150" marB="57150" anchor="ctr"/>
                </a:tc>
                <a:extLst>
                  <a:ext uri="{0D108BD9-81ED-4DB2-BD59-A6C34878D82A}">
                    <a16:rowId xmlns:a16="http://schemas.microsoft.com/office/drawing/2014/main" val="2274526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Logistic Regression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dirty="0">
                          <a:effectLst/>
                        </a:rPr>
                        <a:t>0.5000 (best)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75%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59%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79%</a:t>
                      </a:r>
                    </a:p>
                  </a:txBody>
                  <a:tcPr marL="95250" marR="95250" marT="57150" marB="57150" anchor="ctr"/>
                </a:tc>
                <a:extLst>
                  <a:ext uri="{0D108BD9-81ED-4DB2-BD59-A6C34878D82A}">
                    <a16:rowId xmlns:a16="http://schemas.microsoft.com/office/drawing/2014/main" val="3116176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SVM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dirty="0">
                          <a:effectLst/>
                        </a:rPr>
                        <a:t>0.5000 (default)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75%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59%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79%</a:t>
                      </a:r>
                    </a:p>
                  </a:txBody>
                  <a:tcPr marL="95250" marR="95250" marT="57150" marB="57150" anchor="ctr"/>
                </a:tc>
                <a:extLst>
                  <a:ext uri="{0D108BD9-81ED-4DB2-BD59-A6C34878D82A}">
                    <a16:rowId xmlns:a16="http://schemas.microsoft.com/office/drawing/2014/main" val="412035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SVM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0.2137 (best)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75%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59%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79%</a:t>
                      </a:r>
                    </a:p>
                  </a:txBody>
                  <a:tcPr marL="95250" marR="95250" marT="57150" marB="57150" anchor="ctr"/>
                </a:tc>
                <a:extLst>
                  <a:ext uri="{0D108BD9-81ED-4DB2-BD59-A6C34878D82A}">
                    <a16:rowId xmlns:a16="http://schemas.microsoft.com/office/drawing/2014/main" val="2026688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Decision Tree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dirty="0">
                          <a:effectLst/>
                        </a:rPr>
                        <a:t>0.5000 (default)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40%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55%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87%</a:t>
                      </a:r>
                    </a:p>
                  </a:txBody>
                  <a:tcPr marL="95250" marR="95250" marT="57150" marB="57150" anchor="ctr"/>
                </a:tc>
                <a:extLst>
                  <a:ext uri="{0D108BD9-81ED-4DB2-BD59-A6C34878D82A}">
                    <a16:rowId xmlns:a16="http://schemas.microsoft.com/office/drawing/2014/main" val="1946262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Decision Tree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0.3077 (best)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67%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63%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84%</a:t>
                      </a:r>
                    </a:p>
                  </a:txBody>
                  <a:tcPr marL="95250" marR="95250" marT="57150" marB="57150" anchor="ctr"/>
                </a:tc>
                <a:extLst>
                  <a:ext uri="{0D108BD9-81ED-4DB2-BD59-A6C34878D82A}">
                    <a16:rowId xmlns:a16="http://schemas.microsoft.com/office/drawing/2014/main" val="3918212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Random Forest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dirty="0">
                          <a:effectLst/>
                        </a:rPr>
                        <a:t>0.5000 (default)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46%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59%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87%</a:t>
                      </a:r>
                    </a:p>
                  </a:txBody>
                  <a:tcPr marL="95250" marR="95250" marT="57150" marB="57150" anchor="ctr"/>
                </a:tc>
                <a:extLst>
                  <a:ext uri="{0D108BD9-81ED-4DB2-BD59-A6C34878D82A}">
                    <a16:rowId xmlns:a16="http://schemas.microsoft.com/office/drawing/2014/main" val="2572622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Random Forest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0.1988 (best)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77%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effectLst/>
                        </a:rPr>
                        <a:t>58%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dirty="0">
                          <a:effectLst/>
                        </a:rPr>
                        <a:t>78%</a:t>
                      </a:r>
                    </a:p>
                  </a:txBody>
                  <a:tcPr marL="95250" marR="95250" marT="57150" marB="57150" anchor="ctr"/>
                </a:tc>
                <a:extLst>
                  <a:ext uri="{0D108BD9-81ED-4DB2-BD59-A6C34878D82A}">
                    <a16:rowId xmlns:a16="http://schemas.microsoft.com/office/drawing/2014/main" val="2043810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672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7286A33-6FFE-4CB3-8FCE-1840E7827124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066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completed LLM layer converts model output into retention advice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AFCFB-8B44-43E4-A05F-FAFFBE119917}"/>
              </a:ext>
            </a:extLst>
          </p:cNvPr>
          <p:cNvSpPr>
            <a:spLocks noGrp="1"/>
          </p:cNvSpPr>
          <p:nvPr/>
        </p:nvSpPr>
        <p:spPr>
          <a:xfrm>
            <a:off x="400050" y="1281112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dirty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notebook uses a real at-risk test customer and prompts an LLM to produce analyst-style guidance.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519B59-3318-4F66-A7F1-57953C283C3F}"/>
              </a:ext>
            </a:extLst>
          </p:cNvPr>
          <p:cNvSpPr>
            <a:spLocks noGrp="1"/>
          </p:cNvSpPr>
          <p:nvPr/>
        </p:nvSpPr>
        <p:spPr>
          <a:xfrm>
            <a:off x="476250" y="1952625"/>
            <a:ext cx="3238500" cy="2714625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1F9472-77C6-4C9E-B03E-5A8258ADB517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 signal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D97CDE-3289-470D-9445-389473329004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2667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Predicted churn probability</a:t>
            </a:r>
          </a:p>
          <a:p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0.242</a:t>
            </a:r>
          </a:p>
          <a:p>
            <a:endParaRPr sz="1425" b="0">
              <a:solidFill>
                <a:srgbClr val="4B5563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Customer facts</a:t>
            </a:r>
          </a:p>
          <a:p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Age 40, balance 163,823</a:t>
            </a:r>
          </a:p>
          <a:p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Tenure 10, inactive member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E890F8-D567-4C69-BCF6-9C8630A0AF8C}"/>
              </a:ext>
            </a:extLst>
          </p:cNvPr>
          <p:cNvSpPr>
            <a:spLocks noGrp="1"/>
          </p:cNvSpPr>
          <p:nvPr/>
        </p:nvSpPr>
        <p:spPr>
          <a:xfrm>
            <a:off x="4476750" y="1952625"/>
            <a:ext cx="3238500" cy="2714625"/>
          </a:xfrm>
          <a:prstGeom prst="rect">
            <a:avLst/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F70E05-496C-47C7-9540-518FFD03F2F5}"/>
              </a:ext>
            </a:extLst>
          </p:cNvPr>
          <p:cNvSpPr>
            <a:spLocks noGrp="1"/>
          </p:cNvSpPr>
          <p:nvPr/>
        </p:nvSpPr>
        <p:spPr>
          <a:xfrm>
            <a:off x="4762500" y="2238375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Prompting modes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7B80BD-7DB1-4E9C-BB8C-16E5EE3E4EFC}"/>
              </a:ext>
            </a:extLst>
          </p:cNvPr>
          <p:cNvSpPr>
            <a:spLocks noGrp="1"/>
          </p:cNvSpPr>
          <p:nvPr/>
        </p:nvSpPr>
        <p:spPr>
          <a:xfrm>
            <a:off x="4762500" y="2781300"/>
            <a:ext cx="2667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Zero-shot</a:t>
            </a:r>
          </a:p>
          <a:p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Few-shot</a:t>
            </a:r>
          </a:p>
          <a:p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Reasoning prompt</a:t>
            </a:r>
          </a:p>
          <a:p>
            <a:endParaRPr sz="1425" b="0">
              <a:solidFill>
                <a:srgbClr val="4B5563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All produce retention analyst language from the same ML output.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22906D-83BC-44C9-A6D1-A1A7B7A35EB8}"/>
              </a:ext>
            </a:extLst>
          </p:cNvPr>
          <p:cNvSpPr>
            <a:spLocks noGrp="1"/>
          </p:cNvSpPr>
          <p:nvPr/>
        </p:nvSpPr>
        <p:spPr>
          <a:xfrm>
            <a:off x="8477250" y="1952625"/>
            <a:ext cx="2857500" cy="2714625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8FF62E-0DD4-43E0-B8B2-104DC8D4DD17}"/>
              </a:ext>
            </a:extLst>
          </p:cNvPr>
          <p:cNvSpPr>
            <a:spLocks noGrp="1"/>
          </p:cNvSpPr>
          <p:nvPr/>
        </p:nvSpPr>
        <p:spPr>
          <a:xfrm>
            <a:off x="8763000" y="2238375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Retention action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FF6FD4-3D5B-46B1-B072-A4EE264B6466}"/>
              </a:ext>
            </a:extLst>
          </p:cNvPr>
          <p:cNvSpPr>
            <a:spLocks noGrp="1"/>
          </p:cNvSpPr>
          <p:nvPr/>
        </p:nvSpPr>
        <p:spPr>
          <a:xfrm>
            <a:off x="8763000" y="2781300"/>
            <a:ext cx="2286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Risk: medium</a:t>
            </a:r>
          </a:p>
          <a:p>
            <a:endParaRPr sz="1425" b="0">
              <a:solidFill>
                <a:srgbClr val="4B5563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Recommended action: personalized outreach and financial advice to strengthen engagement.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6E1B57-33BD-4F6C-AE37-7162C59CA34A}"/>
              </a:ext>
            </a:extLst>
          </p:cNvPr>
          <p:cNvSpPr>
            <a:spLocks noGrp="1"/>
          </p:cNvSpPr>
          <p:nvPr/>
        </p:nvSpPr>
        <p:spPr>
          <a:xfrm>
            <a:off x="1952625" y="5476875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turns the classifier from a score into a decision-support workflow.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819516-371B-4607-B507-190A0C6E71AB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922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6320AC7-CE0D-4E02-A0D5-0CEF95E33576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066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Final outcome: a working churn predictor with action-oriented advice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CA854F-4D7E-4A62-A0AA-656FCD7CF581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617523-7E87-40DA-8170-4AB30DCFC357}"/>
              </a:ext>
            </a:extLst>
          </p:cNvPr>
          <p:cNvSpPr>
            <a:spLocks noGrp="1"/>
          </p:cNvSpPr>
          <p:nvPr/>
        </p:nvSpPr>
        <p:spPr>
          <a:xfrm>
            <a:off x="2952750" y="16573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full preprocessing, training, tuning, and evaluation workflow.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047F2D-D440-4F6D-BE93-F24DEE35ACB3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9906000" cy="1333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781405-ABE8-48C2-B4C0-2A6E8CDB48EC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Learned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3EC32-7C29-40E3-A94A-325E5D57CA63}"/>
              </a:ext>
            </a:extLst>
          </p:cNvPr>
          <p:cNvSpPr>
            <a:spLocks noGrp="1"/>
          </p:cNvSpPr>
          <p:nvPr/>
        </p:nvSpPr>
        <p:spPr>
          <a:xfrm>
            <a:off x="2952750" y="2943225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Scaling and threshold tuning changed both runtime and business usefulness.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11A54-4201-4FAD-9E73-8D1691C15A57}"/>
              </a:ext>
            </a:extLst>
          </p:cNvPr>
          <p:cNvSpPr>
            <a:spLocks noGrp="1"/>
          </p:cNvSpPr>
          <p:nvPr/>
        </p:nvSpPr>
        <p:spPr>
          <a:xfrm>
            <a:off x="666750" y="3743325"/>
            <a:ext cx="9906000" cy="1333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9A7DDE-8892-4E5A-9136-FEDFA4EC334E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Delivered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7F232A-864E-4D9E-AC48-E3C2E9CD8E8E}"/>
              </a:ext>
            </a:extLst>
          </p:cNvPr>
          <p:cNvSpPr>
            <a:spLocks noGrp="1"/>
          </p:cNvSpPr>
          <p:nvPr/>
        </p:nvSpPr>
        <p:spPr>
          <a:xfrm>
            <a:off x="2952750" y="422910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model-backed LLM layer that explains risk and suggests retention actions.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BA4A76-8EA3-45AD-A175-72CC7E0D8754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9906000" cy="1333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E38779-C664-4A2B-91AE-6F6886F8F9BD}"/>
              </a:ext>
            </a:extLst>
          </p:cNvPr>
          <p:cNvSpPr>
            <a:spLocks noGrp="1"/>
          </p:cNvSpPr>
          <p:nvPr/>
        </p:nvSpPr>
        <p:spPr>
          <a:xfrm>
            <a:off x="1143000" y="5619750"/>
            <a:ext cx="9429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endParaRPr sz="1650" b="0" dirty="0">
              <a:solidFill>
                <a:srgbClr val="4B5563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F4D2BC-978F-4D85-95B5-784E3A6DAFF5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361524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821</Words>
  <Application>Microsoft Macintosh PowerPoint</Application>
  <DocSecurity>0</DocSecurity>
  <PresentationFormat>Widescreen</PresentationFormat>
  <Paragraphs>185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Rashid Rashid7089</cp:lastModifiedBy>
  <cp:revision>13</cp:revision>
  <dcterms:created xsi:type="dcterms:W3CDTF">2026-07-25T21:13:23Z</dcterms:created>
  <dcterms:modified xsi:type="dcterms:W3CDTF">2026-07-26T07:17:45Z</dcterms:modified>
</cp:coreProperties>
</file>